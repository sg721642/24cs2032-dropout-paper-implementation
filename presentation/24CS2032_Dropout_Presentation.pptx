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1E3A8A"/>
                </a:solidFill>
              </a:defRPr>
            </a:pPr>
            <a:r>
              <a:t>Manual Dropout in Neural Networks</a:t>
            </a:r>
          </a:p>
          <a:p>
            <a:pPr>
              <a:spcAft>
                <a:spcPts val="800"/>
              </a:spcAft>
              <a:defRPr sz="2000">
                <a:solidFill>
                  <a:srgbClr val="475569"/>
                </a:solidFill>
              </a:defRPr>
            </a:pPr>
            <a:r>
              <a:t>A Reduced-Scale Reproduction and Ablation Study</a:t>
            </a:r>
          </a:p>
          <a:p>
            <a:pPr>
              <a:defRPr sz="1300" i="1">
                <a:solidFill>
                  <a:srgbClr val="2563EB"/>
                </a:solidFill>
              </a:defRPr>
            </a:pPr>
            <a:r>
              <a:t>Based on Srivastava et al., Journal of Machine Learning Research (2014)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931920"/>
            <a:ext cx="10362895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400"/>
              </a:spcAft>
              <a:defRPr sz="1200" b="1">
                <a:solidFill>
                  <a:srgbClr val="2563EB"/>
                </a:solidFill>
              </a:defRPr>
            </a:pPr>
            <a:r>
              <a:t>Student Presenter:</a:t>
            </a:r>
          </a:p>
          <a:p>
            <a:pPr>
              <a:spcAft>
                <a:spcPts val="400"/>
              </a:spcAft>
              <a:defRPr sz="1800" b="1">
                <a:solidFill>
                  <a:srgbClr val="0F172A"/>
                </a:solidFill>
              </a:defRPr>
            </a:pPr>
            <a:r>
              <a:t>Satyam Gupta  |  Roll No. 24CS2032</a:t>
            </a:r>
          </a:p>
          <a:p>
            <a:pPr>
              <a:spcAft>
                <a:spcPts val="200"/>
              </a:spcAft>
              <a:defRPr sz="1300">
                <a:solidFill>
                  <a:srgbClr val="475569"/>
                </a:solidFill>
              </a:defRPr>
            </a:pPr>
            <a:r>
              <a:t>Integrated Dual Degree in Computer Science &amp; Engineering and Artificial Intelligence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Rajiv Gandhi Institute of Petroleum Technology (RGIPT)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24CS2032 DEEP LEARNING — PAPER IMPLEMENTATION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Why Dropout? Addressing Co-adaptation &amp; Overfitting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The Overfitting &amp; Co-adaptation Problem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Deep networks have enormous expressive capacity. When trained on finite sample sizes, training error easily approaches zero while generalization error remains high.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Feature Co-adaptation: Neurons learn to compensate for the idiosyncratic errors of other specific neurons rather than forming robust, standalone feature representations.</a:t>
            </a:r>
          </a:p>
          <a:p>
            <a:pPr>
              <a:spcAft>
                <a:spcPts val="1000"/>
              </a:spcAft>
              <a:defRPr sz="1300">
                <a:solidFill>
                  <a:srgbClr val="475569"/>
                </a:solidFill>
              </a:defRPr>
            </a:pPr>
            <a:r>
              <a:t>• Ensemble Limitation: Training and maintaining an ensemble of hundreds of large separate networks is computationally prohibitive.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• Regularization Nuance: Dropout regularizes capacity, but excessive drop rates starve feature flow and cause underfitting.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2422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</a:defRPr>
            </a:pPr>
            <a:r>
              <a:t>The 3-Phase Regularization Solution</a:t>
            </a:r>
          </a:p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</a:defRPr>
            </a:pPr>
            <a:r>
              <a:t>1. Standard Forward Pass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Hidden activations y = ReLU(W x + b) are computed across layers.</a:t>
            </a:r>
          </a:p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</a:defRPr>
            </a:pPr>
            <a:r>
              <a:t>2. Stochastic Training Mask (d = drop probability, q = 1 - d = keep probability)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During training, units are dropped with drop probability d and retained with keep probability q. Forces each neuron to learn useful features alongside random sub-networks.</a:t>
            </a:r>
          </a:p>
          <a:p>
            <a:pPr>
              <a:spcAft>
                <a:spcPts val="300"/>
              </a:spcAft>
              <a:defRPr sz="1300" b="1">
                <a:solidFill>
                  <a:srgbClr val="2563EB"/>
                </a:solidFill>
              </a:defRPr>
            </a:pPr>
            <a:r>
              <a:t>3. Deterministic Inference (Model Averaging)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At test time, the full network runs deterministically without dropping units, offering an approximate model-averaging interpretation over thinned subnetworks.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24CS2032 DEEP LEARNING — PAPER IMPLEMENTATION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Manual Dropout: Mathematical Formulation &amp; PyTorch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spcAft>
                <a:spcPts val="800"/>
              </a:spcAft>
              <a:defRPr sz="1600" b="1">
                <a:solidFill>
                  <a:srgbClr val="1E3A8A"/>
                </a:solidFill>
              </a:defRPr>
            </a:pPr>
            <a:r>
              <a:t>Mathematical Formulation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Drop probability: d in [0, 1)   |   Keep probability: q = 1 - d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Bernoulli mask sampling:   m_i ~ Bernoulli(q)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Training pass (Inverted):   h̃_i = (m_i * h_i) / q</a:t>
            </a:r>
          </a:p>
          <a:p>
            <a:pPr>
              <a:spcAft>
                <a:spcPts val="600"/>
              </a:spcAft>
              <a:defRPr sz="1200" b="1">
                <a:solidFill>
                  <a:srgbClr val="0F172A"/>
                </a:solidFill>
              </a:defRPr>
            </a:pPr>
            <a:r>
              <a:t>Evaluation pass:           h̃_i = h_i   (Identity)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Expectation Preservation Proof:</a:t>
            </a:r>
          </a:p>
          <a:p>
            <a:pPr>
              <a:spcAft>
                <a:spcPts val="800"/>
              </a:spcAft>
              <a:defRPr sz="1200" b="1">
                <a:solidFill>
                  <a:srgbClr val="166534"/>
                </a:solidFill>
              </a:defRPr>
            </a:pPr>
            <a:r>
              <a:t>E[h̃_i | h_i] = E[(m_i * h_i) / q | h_i] = (h_i / q) * E[m_i] = (h_i / q) * q = h_i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Dividing by q keeps the expected activation magnitude unchanged during training, ensuring evaluation requires zero post-hoc weight scaling.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242255" cy="475488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spcAft>
                <a:spcPts val="1000"/>
              </a:spcAft>
              <a:defRPr sz="1400" b="1">
                <a:solidFill>
                  <a:srgbClr val="94A3B8"/>
                </a:solidFill>
              </a:defRPr>
            </a:pPr>
            <a:r>
              <a:t># run.py: ManualDropout Implementation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class ManualDropout(nn.Module):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def __init__(self, drop_rate=0.5, inverted=True):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super().__init__()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self.drop_rate = float(drop_rate)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self.inverted = inverted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def forward(self, x):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keep = 1.0 - self.drop_rate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if not self.training: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    return x if self.inverted else x * keep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if self.drop_rate == 0: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    return x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# Bernoulli mask sampled on same device/dtype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mask = (torch.rand_like(x) &lt; keep).to(x.dtype)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if self.inverted: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    return x * mask / keep</a:t>
            </a:r>
          </a:p>
          <a:p>
            <a:pPr>
              <a:spcAft>
                <a:spcPts val="100"/>
              </a:spcAft>
              <a:defRPr sz="1100">
                <a:solidFill>
                  <a:srgbClr val="F1F5F9"/>
                </a:solidFill>
                <a:latin typeface="Courier New"/>
              </a:defRPr>
            </a:pPr>
            <a:r>
              <a:t>        return x * mask</a:t>
            </a:r>
          </a:p>
          <a:p>
            <a:br/>
            <a:pPr>
              <a:defRPr sz="1000" b="1">
                <a:solidFill>
                  <a:srgbClr val="38BDF8"/>
                </a:solidFill>
              </a:defRPr>
            </a:pPr>
            <a:r>
              <a:t>[RULES] • No nn.Dropout  • Inverted scaling  • Hidden layers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24CS2032 DEEP LEARNING — PAPER IMPLEMENTATION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Controlled Experimental Protocol (dropout-24cs2032-v1)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Architecture &amp; Model Specification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Network Topology: 784 -&gt; 256 -&gt; 256 -&gt; 256 -&gt; 10 Multilayer Perceptron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Hidden Activation: Rectified Linear Unit (ReLU)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Dropout Placement: Immediately after hidden ReLUs (Layers 1, 2, 3)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Input/Output Dropout: NONE (Raw pixels &amp; logits untouched)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Parameter Count: Exactly 335,114 trainable weights &amp; biases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Hardware Backend: Apple Silicon CPU (Native arm64)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Compute Benchmark: CPU: 0.785s / 2 eps  vs  MPS: 4.398s / 2 eps (&gt;5.5x faster)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2422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 bIns="32004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</a:defRPr>
            </a:pPr>
            <a:r>
              <a:t>Experimental Protocol &amp; Sweep Design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Datasets: MNIST (primary) &amp; Fashion-MNIST (extension)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Data Splits: 10,000 train / 5,000 val / 10,000 test (Split seed: 2026)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Drop Rates Evaluated: 8 uniform rates: d in {0.0, 0.1, 0.2, 0.3, 0.4, 0.5, 0.6, 0.7}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Random Seeds: 3 seeds: 42, 43, 44 (Bitwise-identical initialization per seed)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Training Horizon: 20 fixed epochs, batch size 128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Optimizer: Adam (lr = 0.001, beta1=0.9, beta2=0.999, weight decay = 0)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Model Selection Rule: Lowest mean validation error across seeds at epoch 20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Evaluation Discipline: Official test set strictly quarantined (descriptive only)</a:t>
            </a:r>
          </a:p>
          <a:p>
            <a:br/>
            <a:pPr>
              <a:defRPr sz="1100" b="1">
                <a:solidFill>
                  <a:srgbClr val="2563EB"/>
                </a:solidFill>
              </a:defRPr>
            </a:pPr>
            <a:r>
              <a:t>[EXPERIMENT VOLUME] 24 runs &amp; 480 epoch rows per dataset (48 runs total)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24CS2032 DEEP LEARNING — PAPER IMPLEMENTATION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MNIST: Dropout Reduced Test Error at Moderate Rates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nist_keep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3035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09360" y="1554480"/>
            <a:ext cx="515081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t>Measured Results on MNIST (Fixed Epoch 20)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No Dropout Baseline (d = 0.0):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Train: 0.203 ± 0.200%  |  Val: 4.260 ± 0.533%</a:t>
            </a:r>
            <a:br/>
            <a:r>
              <a:t>Test Error: 4.320 ± 0.295%  |  Gap: 4.117 ± 0.101 pp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Validation-Selected (d* = 0.4):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Train: 0.323 ± 0.047%  |  Val: 3.747 ± 0.130%</a:t>
            </a:r>
            <a:br/>
            <a:r>
              <a:t>Test Error: 3.843 ± 0.282%  (Accuracy: 96.157%)</a:t>
            </a:r>
            <a:br/>
            <a:r>
              <a:t>Generalization Gap: 3.520 ± 0.295 pp</a:t>
            </a:r>
          </a:p>
          <a:p>
            <a:pPr>
              <a:spcAft>
                <a:spcPts val="100"/>
              </a:spcAft>
              <a:defRPr sz="1200" b="1">
                <a:solidFill>
                  <a:srgbClr val="166534"/>
                </a:solidFill>
              </a:defRPr>
            </a:pPr>
            <a:r>
              <a:t>Net Gain over Baseline: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+0.477 pp lower test error  (11.03% relative reduction)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Paper Reference Rate (d = 0.5):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Test Error: 3.883 ± 0.087%  (Gap: 3.183 pp)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Model Selection Nuance: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Lowest numerical test error occurred at d=0.3 (3.820 ± 0.118%). The observed mean test-error difference between d=0.3 and d=0.4 is only 0.023 percentage points. Test performance was not used for model selection.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Negative Finding: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Higher drop rates degraded performance below baseline: d=0.6 (4.380%) and d=0.7 (5.110%).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24CS2032 DEEP LEARNING — PAPER IMPLEMENTATION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Historical Paper Comparison &amp; Fashion-MNIST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t>Comparison with Srivastava et al. (2014)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Paper Table 2 Historical Score: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Srivastava et al. report ~1.25% test error on MNIST using a 3x1024 ReLU architecture with dropout.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Our Measured Selected Score: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3.843 ± 0.282% test error (d = 0.4, 3x256 MLP).</a:t>
            </a:r>
          </a:p>
          <a:p>
            <a:pPr>
              <a:spcAft>
                <a:spcPts val="100"/>
              </a:spcAft>
              <a:defRPr sz="1200" b="1">
                <a:solidFill>
                  <a:srgbClr val="991B1B"/>
                </a:solidFill>
              </a:defRPr>
            </a:pPr>
            <a:r>
              <a:t>NOT Directly Comparable: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Our experiment is not an apples-to-apples comparison:</a:t>
            </a:r>
            <a:br/>
            <a:r>
              <a:t>• Architecture: 256 units vs. 1,024-8,192 units</a:t>
            </a:r>
            <a:br/>
            <a:r>
              <a:t>• Training set: 10,000 subset vs. full 60,000</a:t>
            </a:r>
            <a:br/>
            <a:r>
              <a:t>• Budget: 20 epochs vs. hundreds of epochs</a:t>
            </a:r>
            <a:br/>
            <a:r>
              <a:t>• Optimizer: Adam vs. SGD + momentum + max-norm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Qualitative Trend: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Our reduced-scale rate sweep shows a qualitatively similar non-monotonic trend: moderate dropout performs better than very high dropout under this fixed training budget.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2422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1E3A8A"/>
                </a:solidFill>
              </a:defRPr>
            </a:pPr>
            <a:r>
              <a:t>Fashion-MNIST Extension (Same Protocol)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No Dropout Baseline (d = 0.0):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Train: 7.130 ± 0.177%  |  Val: 13.127 ± 0.247%</a:t>
            </a:r>
            <a:br/>
            <a:r>
              <a:t>Test Error: 14.663 ± 0.175%  |  Gap: 7.533 pp</a:t>
            </a:r>
          </a:p>
          <a:p>
            <a:pPr>
              <a:spcAft>
                <a:spcPts val="100"/>
              </a:spcAft>
              <a:defRPr sz="1200" b="1">
                <a:solidFill>
                  <a:srgbClr val="166534"/>
                </a:solidFill>
              </a:defRPr>
            </a:pPr>
            <a:r>
              <a:t>Validation-Selected (d* = 0.2):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Train: 8.583 ± 0.414%  |  Val: 13.087 ± 0.408%</a:t>
            </a:r>
            <a:br/>
            <a:r>
              <a:t>Test Error: 14.347 ± 0.253%  (Accuracy: 85.653%)</a:t>
            </a:r>
            <a:br/>
            <a:r>
              <a:t>Net Improvement: +0.317 pp (2.16% relative)</a:t>
            </a:r>
          </a:p>
          <a:p>
            <a:pPr>
              <a:spcAft>
                <a:spcPts val="100"/>
              </a:spcAft>
              <a:defRPr sz="1200" b="1">
                <a:solidFill>
                  <a:srgbClr val="991B1B"/>
                </a:solidFill>
              </a:defRPr>
            </a:pPr>
            <a:r>
              <a:t>Critical Negative Finding: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Canonical d = 0.5 underperformed baseline:</a:t>
            </a:r>
            <a:br/>
            <a:r>
              <a:t>Test error rose to 15.133 ± 0.325% (+0.47 pp worse than baseline). At d = 0.7, error spiked to 17.453%.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Key Scientific Insight: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Under the fixed 20-epoch budget, higher dropout rates produced higher train and test error on Fashion-MNIST, consistent with stronger underfitting.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24CS2032 DEEP LEARNING — PAPER IMPLEMENTATION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Failure Case Inspection and Methodological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6858000" cy="4937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MNIST Failure Inspection (Selected d = 0.4):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inspected examples include: True 2 → Pred 3 (conf 0.52)   |   True 9 → Pred 8 (conf 0.91)</a:t>
            </a:r>
          </a:p>
        </p:txBody>
      </p:sp>
      <p:pic>
        <p:nvPicPr>
          <p:cNvPr id="7" name="Picture 6" descr="mnist_failure_cases.png"/>
          <p:cNvPicPr>
            <a:picLocks noChangeAspect="1"/>
          </p:cNvPicPr>
          <p:nvPr/>
        </p:nvPicPr>
        <p:blipFill>
          <a:blip r:embed="rId2"/>
          <a:srcRect t="4861" b="63889"/>
          <a:stretch>
            <a:fillRect/>
          </a:stretch>
        </p:blipFill>
        <p:spPr>
          <a:xfrm>
            <a:off x="868680" y="2103120"/>
            <a:ext cx="65836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3611880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Fashion-MNIST Failure Inspection (Selected d = 0.2):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The inspected examples include: Coat → Pullover (conf 0.71)   |   Ankle boot → Sneaker (conf 0.99)</a:t>
            </a:r>
          </a:p>
        </p:txBody>
      </p:sp>
      <p:pic>
        <p:nvPicPr>
          <p:cNvPr id="9" name="Picture 8" descr="fashion_failure_cases.png"/>
          <p:cNvPicPr>
            <a:picLocks noChangeAspect="1"/>
          </p:cNvPicPr>
          <p:nvPr/>
        </p:nvPicPr>
        <p:blipFill>
          <a:blip r:embed="rId3"/>
          <a:srcRect t="4861" b="63889"/>
          <a:stretch>
            <a:fillRect/>
          </a:stretch>
        </p:blipFill>
        <p:spPr>
          <a:xfrm>
            <a:off x="868680" y="4160520"/>
            <a:ext cx="658368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5669280"/>
            <a:ext cx="6583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i="1">
                <a:solidFill>
                  <a:srgbClr val="475569"/>
                </a:solidFill>
              </a:defRPr>
            </a:pPr>
            <a:r>
              <a:t>Note: Inspected examples display stroke and silhouette resemblances; they do not establish category-wide concentration or individual failure causes.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463040"/>
            <a:ext cx="3687775" cy="4937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800"/>
              </a:spcAft>
              <a:defRPr sz="1400" b="1">
                <a:solidFill>
                  <a:srgbClr val="1E3A8A"/>
                </a:solidFill>
              </a:defRPr>
            </a:pPr>
            <a:r>
              <a:t>Methodological Constraints &amp; Scope</a:t>
            </a:r>
          </a:p>
          <a:p>
            <a:pPr>
              <a:spcAft>
                <a:spcPts val="100"/>
              </a:spcAft>
              <a:defRPr sz="1100" b="1">
                <a:solidFill>
                  <a:srgbClr val="2563EB"/>
                </a:solidFill>
              </a:defRPr>
            </a:pPr>
            <a:r>
              <a:t>• 3 random seeds only: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N=3 reflects empirical sample variance but lacks statistical power for formal hypothesis testing.</a:t>
            </a:r>
          </a:p>
          <a:p>
            <a:pPr>
              <a:spcAft>
                <a:spcPts val="100"/>
              </a:spcAft>
              <a:defRPr sz="1100" b="1">
                <a:solidFill>
                  <a:srgbClr val="2563EB"/>
                </a:solidFill>
              </a:defRPr>
            </a:pPr>
            <a:r>
              <a:t>• 10k training subset: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Subsampled training split magnifies regularizer sensitivity relative to the full 60,000 dataset.</a:t>
            </a:r>
          </a:p>
          <a:p>
            <a:pPr>
              <a:spcAft>
                <a:spcPts val="100"/>
              </a:spcAft>
              <a:defRPr sz="1100" b="1">
                <a:solidFill>
                  <a:srgbClr val="2563EB"/>
                </a:solidFill>
              </a:defRPr>
            </a:pPr>
            <a:r>
              <a:t>• Fixed 20-epoch budget: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Higher dropout may require more optimization; this experiment intentionally keeps the same 20-epoch budget for every rate.</a:t>
            </a:r>
          </a:p>
          <a:p>
            <a:pPr>
              <a:spcAft>
                <a:spcPts val="100"/>
              </a:spcAft>
              <a:defRPr sz="1100" b="1">
                <a:solidFill>
                  <a:srgbClr val="2563EB"/>
                </a:solidFill>
              </a:defRPr>
            </a:pPr>
            <a:r>
              <a:t>• Fully connected MLP: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Lacks the translational invariance of convolutional networks.</a:t>
            </a:r>
          </a:p>
          <a:p>
            <a:pPr>
              <a:spcAft>
                <a:spcPts val="100"/>
              </a:spcAft>
              <a:defRPr sz="1100" b="1">
                <a:solidFill>
                  <a:srgbClr val="2563EB"/>
                </a:solidFill>
              </a:defRPr>
            </a:pPr>
            <a:r>
              <a:t>• No significance test: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Sample SD (ddof=1) reported; descriptive comparisons only without p-values.</a:t>
            </a:r>
          </a:p>
          <a:p>
            <a:pPr>
              <a:spcAft>
                <a:spcPts val="100"/>
              </a:spcAft>
              <a:defRPr sz="1100" b="1">
                <a:solidFill>
                  <a:srgbClr val="2563EB"/>
                </a:solidFill>
              </a:defRPr>
            </a:pPr>
            <a:r>
              <a:t>• Fashion-MNIST is an extension:</a:t>
            </a:r>
          </a:p>
          <a:p>
            <a:pPr>
              <a:spcAft>
                <a:spcPts val="500"/>
              </a:spcAft>
              <a:defRPr sz="1000">
                <a:solidFill>
                  <a:srgbClr val="0F172A"/>
                </a:solidFill>
              </a:defRPr>
            </a:pPr>
            <a:r>
              <a:t>Exploratory benchmark under the identical protocol (not present in 2014 paper).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24CS2032 DEEP LEARNING — PAPER IMPLEMENTATION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Conclusion, Live Model Demo &amp;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Key Research Conclusions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1. Mathematical Implementation: Manual inverted dropout implemented without built-in dropout primitives; standard PyTorch layers and optimizers were used.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2. Regularization Efficacy: Moderate validation-selected dropout lowered mean test error relative to the no-dropout baseline in our fixed protocol:</a:t>
            </a:r>
            <a:br/>
            <a:r>
              <a:t>   • MNIST: 4.320% -&gt; 3.843% test error (11.03% relative reduction)</a:t>
            </a:r>
            <a:br/>
            <a:r>
              <a:t>   • Fashion-MNIST: 14.663% -&gt; 14.347% test error (2.16% relative reduction)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3. Critical Negative Finding: Canonical d = 0.5 underperformed the no-dropout baseline on Fashion-MNIST, and high rates d &gt;= 0.6 produced higher error consistent with stronger underfitting under the fixed training budget.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4. Methodological Lesson: Dropout strength cannot be assumed universally; it must be calibrated systematically against validation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2422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E3A8A"/>
                </a:solidFill>
              </a:defRPr>
            </a:pPr>
            <a:r>
              <a:t>Saved-Model Demonstration &amp; Project Assets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Interactive Demo (presentation/demo.py):</a:t>
            </a:r>
          </a:p>
          <a:p>
            <a:pPr>
              <a:spcAft>
                <a:spcPts val="700"/>
              </a:spcAft>
              <a:defRPr sz="1050">
                <a:solidFill>
                  <a:srgbClr val="0F172A"/>
                </a:solidFill>
              </a:defRPr>
            </a:pPr>
            <a:r>
              <a:t>• Loads saved checkpoint: mnist_d0.4_s42.pt on CPU</a:t>
            </a:r>
            <a:br/>
            <a:r>
              <a:t>• First 10 MNIST test samples: 10/10 correct in the demo.</a:t>
            </a:r>
            <a:br/>
            <a:r>
              <a:t>  (Demo sample only — not the reported full-test accuracy.)</a:t>
            </a:r>
            <a:br/>
            <a:r>
              <a:t>• Formal selected mean test accuracy remains 96.157%.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Private Project Repository:</a:t>
            </a:r>
          </a:p>
          <a:p>
            <a:pPr>
              <a:spcAft>
                <a:spcPts val="700"/>
              </a:spcAft>
              <a:defRPr sz="1050">
                <a:solidFill>
                  <a:srgbClr val="0F172A"/>
                </a:solidFill>
              </a:defRPr>
            </a:pPr>
            <a:r>
              <a:t>https://github.com/sg721642/24cs2032-dropout-paper-implementation</a:t>
            </a:r>
            <a:br/>
            <a:r>
              <a:t>(Contains complete source, reproducible notebook, and audited CSV data)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Verified Academic Report:</a:t>
            </a:r>
          </a:p>
          <a:p>
            <a:pPr>
              <a:spcAft>
                <a:spcPts val="700"/>
              </a:spcAft>
              <a:defRPr sz="1050">
                <a:solidFill>
                  <a:srgbClr val="0F172A"/>
                </a:solidFill>
              </a:defRPr>
            </a:pPr>
            <a:r>
              <a:t>report/24CS2032_Dropout_Report.pdf (5-page IEEE conference format)</a:t>
            </a:r>
          </a:p>
          <a:p>
            <a:pPr>
              <a:spcAft>
                <a:spcPts val="100"/>
              </a:spcAft>
              <a:defRPr sz="1200" b="1">
                <a:solidFill>
                  <a:srgbClr val="2563EB"/>
                </a:solidFill>
              </a:defRPr>
            </a:pPr>
            <a:r>
              <a:t>Primary Citation:</a:t>
            </a:r>
          </a:p>
          <a:p>
            <a:pPr>
              <a:spcAft>
                <a:spcPts val="700"/>
              </a:spcAft>
              <a:defRPr sz="1050">
                <a:solidFill>
                  <a:srgbClr val="0F172A"/>
                </a:solidFill>
              </a:defRPr>
            </a:pPr>
            <a:r>
              <a:t>Srivastava, N., Hinton, G., Krizhevsky, A., Sutskever, I., &amp; Salakhutdinov, R. 'Dropout: A Simple Way to Prevent Neural Networks from Overfitting.' JMLR 15.56 (2014): 1929-1958.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