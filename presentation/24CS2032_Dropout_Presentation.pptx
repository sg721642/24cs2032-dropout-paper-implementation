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46304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600" b="1">
                <a:solidFill>
                  <a:srgbClr val="1E3A8A"/>
                </a:solidFill>
              </a:defRPr>
            </a:pPr>
            <a:r>
              <a:t>Manual Dropout in Neural Networks</a:t>
            </a:r>
          </a:p>
          <a:p>
            <a:pPr>
              <a:spcAft>
                <a:spcPts val="800"/>
              </a:spcAft>
              <a:defRPr sz="2000">
                <a:solidFill>
                  <a:srgbClr val="475569"/>
                </a:solidFill>
              </a:defRPr>
            </a:pPr>
            <a:r>
              <a:t>A Reduced-Scale Reproduction and Ablation Study</a:t>
            </a:r>
          </a:p>
          <a:p>
            <a:pPr>
              <a:defRPr sz="1300" i="1">
                <a:solidFill>
                  <a:srgbClr val="2563EB"/>
                </a:solidFill>
              </a:defRPr>
            </a:pPr>
            <a:r>
              <a:t>Based on Srivastava et al., Journal of Machine Learning Research (2014)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3931920"/>
            <a:ext cx="10362895" cy="2011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/>
          <a:lstStyle/>
          <a:p>
            <a:pPr algn="ctr">
              <a:spcAft>
                <a:spcPts val="400"/>
              </a:spcAft>
              <a:defRPr sz="1200" b="1">
                <a:solidFill>
                  <a:srgbClr val="2563EB"/>
                </a:solidFill>
              </a:defRPr>
            </a:pPr>
            <a:r>
              <a:t>Student Presenter:</a:t>
            </a:r>
          </a:p>
          <a:p>
            <a:pPr>
              <a:spcAft>
                <a:spcPts val="400"/>
              </a:spcAft>
              <a:defRPr sz="1800" b="1">
                <a:solidFill>
                  <a:srgbClr val="0F172A"/>
                </a:solidFill>
              </a:defRPr>
            </a:pPr>
            <a:r>
              <a:t>Satyam Gupta  |  Roll No. 24CS2032</a:t>
            </a:r>
          </a:p>
          <a:p>
            <a:pPr>
              <a:spcAft>
                <a:spcPts val="200"/>
              </a:spcAft>
              <a:defRPr sz="1300">
                <a:solidFill>
                  <a:srgbClr val="475569"/>
                </a:solidFill>
              </a:defRPr>
            </a:pPr>
            <a:r>
              <a:t>Integrated Dual Degree in Computer Science &amp; Engineering and Artificial Intelligence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Rajiv Gandhi Institute of Petroleum Technology (RGIPT)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24CS2032 DEEP LEARNING — PAPER IMPLEMENTATION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Why Dropout? Addressing Co-adaptation &amp; Overfitting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554480"/>
            <a:ext cx="5120640" cy="47548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320040" rIns="320040" bIns="320040"/>
          <a:lstStyle/>
          <a:p>
            <a:pPr algn="ctr"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The Overfitting &amp; Co-adaptation Problem</a:t>
            </a:r>
          </a:p>
          <a:p>
            <a:pPr>
              <a:spcAft>
                <a:spcPts val="1000"/>
              </a:spcAft>
              <a:defRPr sz="1300">
                <a:solidFill>
                  <a:srgbClr val="0F172A"/>
                </a:solidFill>
              </a:defRPr>
            </a:pPr>
            <a:r>
              <a:t>• Deep networks have enormous expressive capacity. When trained on finite sample sizes, training error easily approaches zero while generalization error remains high.</a:t>
            </a:r>
          </a:p>
          <a:p>
            <a:pPr>
              <a:spcAft>
                <a:spcPts val="1000"/>
              </a:spcAft>
              <a:defRPr sz="1300">
                <a:solidFill>
                  <a:srgbClr val="0F172A"/>
                </a:solidFill>
              </a:defRPr>
            </a:pPr>
            <a:r>
              <a:t>• Feature Co-adaptation: Neurons learn to compensate for the idiosyncratic errors of other specific neurons rather than forming robust, standalone feature representations.</a:t>
            </a:r>
          </a:p>
          <a:p>
            <a:pPr>
              <a:spcAft>
                <a:spcPts val="1000"/>
              </a:spcAft>
              <a:defRPr sz="1300">
                <a:solidFill>
                  <a:srgbClr val="475569"/>
                </a:solidFill>
              </a:defRPr>
            </a:pPr>
            <a:r>
              <a:t>• Ensemble Limitation: Training and maintaining an ensemble of hundreds of large separate networks is computationally prohibitive.</a:t>
            </a:r>
          </a:p>
          <a:p>
            <a:pPr>
              <a:defRPr sz="1300" b="1">
                <a:solidFill>
                  <a:srgbClr val="2563EB"/>
                </a:solidFill>
              </a:defRPr>
            </a:pPr>
            <a:r>
              <a:t>• Regularization Nuance: Excessive dropout can increase underfitting risk under a fixed training budget.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554480"/>
            <a:ext cx="5242255" cy="47548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320040" rIns="320040" bIns="320040"/>
          <a:lstStyle/>
          <a:p>
            <a:pPr algn="ctr">
              <a:spcAft>
                <a:spcPts val="1400"/>
              </a:spcAft>
              <a:defRPr sz="1600" b="1">
                <a:solidFill>
                  <a:srgbClr val="1E3A8A"/>
                </a:solidFill>
              </a:defRPr>
            </a:pPr>
            <a:r>
              <a:t>The 3-Phase Regularization Solution</a:t>
            </a:r>
          </a:p>
          <a:p>
            <a:pPr>
              <a:spcAft>
                <a:spcPts val="300"/>
              </a:spcAft>
              <a:defRPr sz="1300" b="1">
                <a:solidFill>
                  <a:srgbClr val="2563EB"/>
                </a:solidFill>
              </a:defRPr>
            </a:pPr>
            <a:r>
              <a:t>1. Standard Forward Pass</a:t>
            </a:r>
          </a:p>
          <a:p>
            <a:pPr>
              <a:spcAft>
                <a:spcPts val="1200"/>
              </a:spcAft>
              <a:defRPr sz="1200">
                <a:solidFill>
                  <a:srgbClr val="0F172A"/>
                </a:solidFill>
              </a:defRPr>
            </a:pPr>
            <a:r>
              <a:t>Hidden activations y = ReLU(W x + b) are computed across layers.</a:t>
            </a:r>
          </a:p>
          <a:p>
            <a:pPr>
              <a:spcAft>
                <a:spcPts val="300"/>
              </a:spcAft>
              <a:defRPr sz="1300" b="1">
                <a:solidFill>
                  <a:srgbClr val="2563EB"/>
                </a:solidFill>
              </a:defRPr>
            </a:pPr>
            <a:r>
              <a:t>2. Stochastic Training Mask (d = drop probability, q = 1 - d = keep probability)</a:t>
            </a:r>
          </a:p>
          <a:p>
            <a:pPr>
              <a:spcAft>
                <a:spcPts val="1200"/>
              </a:spcAft>
              <a:defRPr sz="1200">
                <a:solidFill>
                  <a:srgbClr val="0F172A"/>
                </a:solidFill>
              </a:defRPr>
            </a:pPr>
            <a:r>
              <a:t>During training, units are dropped with drop probability d and retained with keep probability q. Forces each neuron to learn useful features alongside random sub-networks.</a:t>
            </a:r>
          </a:p>
          <a:p>
            <a:pPr>
              <a:spcAft>
                <a:spcPts val="300"/>
              </a:spcAft>
              <a:defRPr sz="1300" b="1">
                <a:solidFill>
                  <a:srgbClr val="2563EB"/>
                </a:solidFill>
              </a:defRPr>
            </a:pPr>
            <a:r>
              <a:t>3. Deterministic Inference (Model Averaging)</a:t>
            </a:r>
          </a:p>
          <a:p>
            <a:pPr>
              <a:spcAft>
                <a:spcPts val="1200"/>
              </a:spcAft>
              <a:defRPr sz="1200">
                <a:solidFill>
                  <a:srgbClr val="0F172A"/>
                </a:solidFill>
              </a:defRPr>
            </a:pPr>
            <a:r>
              <a:t>At test time, the full network runs deterministically without dropping units, offering an approximate model-averaging interpretation over thinned subnetworks.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24CS2032 DEEP LEARNING — PAPER IMPLEMENTATION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Manual Dropout: Mathematical Formulation &amp; PyTorch Implementation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554480"/>
            <a:ext cx="5120640" cy="47548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320040" rIns="320040" bIns="320040"/>
          <a:lstStyle/>
          <a:p>
            <a:pPr algn="ctr">
              <a:spcAft>
                <a:spcPts val="800"/>
              </a:spcAft>
              <a:defRPr sz="1600" b="1">
                <a:solidFill>
                  <a:srgbClr val="1E3A8A"/>
                </a:solidFill>
              </a:defRPr>
            </a:pPr>
            <a:r>
              <a:t>Mathematical Formulation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</a:defRPr>
            </a:pPr>
            <a:r>
              <a:t>Drop probability: d in [0, 1)   |   Keep probability: q = 1 - d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</a:defRPr>
            </a:pPr>
            <a:r>
              <a:t>Bernoulli mask sampling:   m_i ~ Bernoulli(q)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</a:defRPr>
            </a:pPr>
            <a:r>
              <a:t>Training pass (Inverted):   h̃_i = (m_i * h_i) / q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</a:defRPr>
            </a:pPr>
            <a:r>
              <a:t>Evaluation pass:           h̃_i = h_i   (Identity)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300" b="1">
                <a:solidFill>
                  <a:srgbClr val="2563EB"/>
                </a:solidFill>
              </a:defRPr>
            </a:pPr>
            <a:r>
              <a:t>Expectation Preservation Proof:</a:t>
            </a:r>
          </a:p>
          <a:p>
            <a:pPr>
              <a:spcAft>
                <a:spcPts val="800"/>
              </a:spcAft>
              <a:defRPr sz="1200" b="1">
                <a:solidFill>
                  <a:srgbClr val="166534"/>
                </a:solidFill>
              </a:defRPr>
            </a:pPr>
            <a:r>
              <a:t>E[h̃_i | h_i] = E[(m_i * h_i) / q | h_i] = (h_i / q) * E[m_i] = (h_i / q) * q = h_i</a:t>
            </a:r>
          </a:p>
          <a:p>
            <a:pPr>
              <a:defRPr sz="1200">
                <a:solidFill>
                  <a:srgbClr val="475569"/>
                </a:solidFill>
              </a:defRPr>
            </a:pPr>
            <a:r>
              <a:t>Dividing by q keeps the expected activation magnitude unchanged during training, ensuring evaluation requires zero post-hoc weight scaling.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554480"/>
            <a:ext cx="5242255" cy="4754880"/>
          </a:xfrm>
          <a:prstGeom prst="rect">
            <a:avLst/>
          </a:prstGeom>
          <a:solidFill>
            <a:srgbClr val="0F172A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320040" rIns="320040" bIns="320040"/>
          <a:lstStyle/>
          <a:p>
            <a:pPr algn="ctr">
              <a:spcAft>
                <a:spcPts val="1000"/>
              </a:spcAft>
              <a:defRPr sz="1400" b="1">
                <a:solidFill>
                  <a:srgbClr val="94A3B8"/>
                </a:solidFill>
              </a:defRPr>
            </a:pPr>
            <a:r>
              <a:t># run.py: ManualDropout Implementation</a:t>
            </a:r>
          </a:p>
          <a:p>
            <a:pPr>
              <a:spcAft>
                <a:spcPts val="100"/>
              </a:spcAft>
              <a:defRPr sz="1100">
                <a:solidFill>
                  <a:srgbClr val="F1F5F9"/>
                </a:solidFill>
                <a:latin typeface="Courier New"/>
              </a:defRPr>
            </a:pPr>
            <a:r>
              <a:t>class ManualDropout(nn.Module):</a:t>
            </a:r>
          </a:p>
          <a:p>
            <a:pPr>
              <a:spcAft>
                <a:spcPts val="100"/>
              </a:spcAft>
              <a:defRPr sz="1100">
                <a:solidFill>
                  <a:srgbClr val="F1F5F9"/>
                </a:solidFill>
                <a:latin typeface="Courier New"/>
              </a:defRPr>
            </a:pPr>
            <a:r>
              <a:t>    def __init__(self, drop_rate=0.5, inverted=True):</a:t>
            </a:r>
          </a:p>
          <a:p>
            <a:pPr>
              <a:spcAft>
                <a:spcPts val="100"/>
              </a:spcAft>
              <a:defRPr sz="1100">
                <a:solidFill>
                  <a:srgbClr val="F1F5F9"/>
                </a:solidFill>
                <a:latin typeface="Courier New"/>
              </a:defRPr>
            </a:pPr>
            <a:r>
              <a:t>        super().__init__()</a:t>
            </a:r>
          </a:p>
          <a:p>
            <a:pPr>
              <a:spcAft>
                <a:spcPts val="100"/>
              </a:spcAft>
              <a:defRPr sz="1100">
                <a:solidFill>
                  <a:srgbClr val="F1F5F9"/>
                </a:solidFill>
                <a:latin typeface="Courier New"/>
              </a:defRPr>
            </a:pPr>
            <a:r>
              <a:t>        self.drop_rate = float(drop_rate)</a:t>
            </a:r>
          </a:p>
          <a:p>
            <a:pPr>
              <a:spcAft>
                <a:spcPts val="100"/>
              </a:spcAft>
              <a:defRPr sz="1100">
                <a:solidFill>
                  <a:srgbClr val="F1F5F9"/>
                </a:solidFill>
                <a:latin typeface="Courier New"/>
              </a:defRPr>
            </a:pPr>
            <a:r>
              <a:t>        self.inverted = inverted</a:t>
            </a:r>
          </a:p>
          <a:p>
            <a:pPr>
              <a:spcAft>
                <a:spcPts val="100"/>
              </a:spcAft>
              <a:defRPr sz="1100">
                <a:solidFill>
                  <a:srgbClr val="F1F5F9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100">
                <a:solidFill>
                  <a:srgbClr val="F1F5F9"/>
                </a:solidFill>
                <a:latin typeface="Courier New"/>
              </a:defRPr>
            </a:pPr>
            <a:r>
              <a:t>    def forward(self, x):</a:t>
            </a:r>
          </a:p>
          <a:p>
            <a:pPr>
              <a:spcAft>
                <a:spcPts val="100"/>
              </a:spcAft>
              <a:defRPr sz="1100">
                <a:solidFill>
                  <a:srgbClr val="F1F5F9"/>
                </a:solidFill>
                <a:latin typeface="Courier New"/>
              </a:defRPr>
            </a:pPr>
            <a:r>
              <a:t>        keep = 1.0 - self.drop_rate</a:t>
            </a:r>
          </a:p>
          <a:p>
            <a:pPr>
              <a:spcAft>
                <a:spcPts val="100"/>
              </a:spcAft>
              <a:defRPr sz="1100">
                <a:solidFill>
                  <a:srgbClr val="F1F5F9"/>
                </a:solidFill>
                <a:latin typeface="Courier New"/>
              </a:defRPr>
            </a:pPr>
            <a:r>
              <a:t>        if not self.training:</a:t>
            </a:r>
          </a:p>
          <a:p>
            <a:pPr>
              <a:spcAft>
                <a:spcPts val="100"/>
              </a:spcAft>
              <a:defRPr sz="1100">
                <a:solidFill>
                  <a:srgbClr val="F1F5F9"/>
                </a:solidFill>
                <a:latin typeface="Courier New"/>
              </a:defRPr>
            </a:pPr>
            <a:r>
              <a:t>            return x if self.inverted else x * keep</a:t>
            </a:r>
          </a:p>
          <a:p>
            <a:pPr>
              <a:spcAft>
                <a:spcPts val="100"/>
              </a:spcAft>
              <a:defRPr sz="1100">
                <a:solidFill>
                  <a:srgbClr val="F1F5F9"/>
                </a:solidFill>
                <a:latin typeface="Courier New"/>
              </a:defRPr>
            </a:pPr>
            <a:r>
              <a:t>        if self.drop_rate == 0:</a:t>
            </a:r>
          </a:p>
          <a:p>
            <a:pPr>
              <a:spcAft>
                <a:spcPts val="100"/>
              </a:spcAft>
              <a:defRPr sz="1100">
                <a:solidFill>
                  <a:srgbClr val="F1F5F9"/>
                </a:solidFill>
                <a:latin typeface="Courier New"/>
              </a:defRPr>
            </a:pPr>
            <a:r>
              <a:t>            return x</a:t>
            </a:r>
          </a:p>
          <a:p>
            <a:pPr>
              <a:spcAft>
                <a:spcPts val="100"/>
              </a:spcAft>
              <a:defRPr sz="1100">
                <a:solidFill>
                  <a:srgbClr val="F1F5F9"/>
                </a:solidFill>
                <a:latin typeface="Courier New"/>
              </a:defRPr>
            </a:pPr>
            <a:r>
              <a:t>        # Bernoulli mask sampled on same device/dtype</a:t>
            </a:r>
          </a:p>
          <a:p>
            <a:pPr>
              <a:spcAft>
                <a:spcPts val="100"/>
              </a:spcAft>
              <a:defRPr sz="1100">
                <a:solidFill>
                  <a:srgbClr val="F1F5F9"/>
                </a:solidFill>
                <a:latin typeface="Courier New"/>
              </a:defRPr>
            </a:pPr>
            <a:r>
              <a:t>        mask = (torch.rand_like(x) &lt; keep).to(x.dtype)</a:t>
            </a:r>
          </a:p>
          <a:p>
            <a:pPr>
              <a:spcAft>
                <a:spcPts val="100"/>
              </a:spcAft>
              <a:defRPr sz="1100">
                <a:solidFill>
                  <a:srgbClr val="F1F5F9"/>
                </a:solidFill>
                <a:latin typeface="Courier New"/>
              </a:defRPr>
            </a:pPr>
            <a:r>
              <a:t>        if self.inverted:</a:t>
            </a:r>
          </a:p>
          <a:p>
            <a:pPr>
              <a:spcAft>
                <a:spcPts val="100"/>
              </a:spcAft>
              <a:defRPr sz="1100">
                <a:solidFill>
                  <a:srgbClr val="F1F5F9"/>
                </a:solidFill>
                <a:latin typeface="Courier New"/>
              </a:defRPr>
            </a:pPr>
            <a:r>
              <a:t>            return x * mask / keep</a:t>
            </a:r>
          </a:p>
          <a:p>
            <a:pPr>
              <a:spcAft>
                <a:spcPts val="100"/>
              </a:spcAft>
              <a:defRPr sz="1100">
                <a:solidFill>
                  <a:srgbClr val="F1F5F9"/>
                </a:solidFill>
                <a:latin typeface="Courier New"/>
              </a:defRPr>
            </a:pPr>
            <a:r>
              <a:t>        return x * mask</a:t>
            </a:r>
          </a:p>
          <a:p>
            <a:br/>
            <a:pPr>
              <a:defRPr sz="1000" b="1">
                <a:solidFill>
                  <a:srgbClr val="38BDF8"/>
                </a:solidFill>
              </a:defRPr>
            </a:pPr>
            <a:r>
              <a:t>[RULES] • No nn.Dropout  • Inverted scaling  • Hidden layers only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24CS2032 DEEP LEARNING — PAPER IMPLEMENTATION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Controlled Experimental Protocol (dropout-24cs2032-v1)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554480"/>
            <a:ext cx="5120640" cy="47548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320040" rIns="320040" bIns="320040"/>
          <a:lstStyle/>
          <a:p>
            <a:pPr algn="ctr"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Architecture &amp; Model Specification</a:t>
            </a:r>
          </a:p>
          <a:p>
            <a:pPr>
              <a:spcAft>
                <a:spcPts val="700"/>
              </a:spcAft>
              <a:defRPr sz="1200">
                <a:solidFill>
                  <a:srgbClr val="0F172A"/>
                </a:solidFill>
              </a:defRPr>
            </a:pPr>
            <a:r>
              <a:t>Network Topology: 784 -&gt; 256 -&gt; 256 -&gt; 256 -&gt; 10 Multilayer Perceptron</a:t>
            </a:r>
          </a:p>
          <a:p>
            <a:pPr>
              <a:spcAft>
                <a:spcPts val="700"/>
              </a:spcAft>
              <a:defRPr sz="1200">
                <a:solidFill>
                  <a:srgbClr val="0F172A"/>
                </a:solidFill>
              </a:defRPr>
            </a:pPr>
            <a:r>
              <a:t>Hidden Activation: Rectified Linear Unit (ReLU)</a:t>
            </a:r>
          </a:p>
          <a:p>
            <a:pPr>
              <a:spcAft>
                <a:spcPts val="700"/>
              </a:spcAft>
              <a:defRPr sz="1200">
                <a:solidFill>
                  <a:srgbClr val="0F172A"/>
                </a:solidFill>
              </a:defRPr>
            </a:pPr>
            <a:r>
              <a:t>Dropout Placement: Immediately after hidden ReLUs (Layers 1, 2, 3)</a:t>
            </a:r>
          </a:p>
          <a:p>
            <a:pPr>
              <a:spcAft>
                <a:spcPts val="700"/>
              </a:spcAft>
              <a:defRPr sz="1200">
                <a:solidFill>
                  <a:srgbClr val="0F172A"/>
                </a:solidFill>
              </a:defRPr>
            </a:pPr>
            <a:r>
              <a:t>Input/Output Dropout: NONE (Raw pixels &amp; logits untouched)</a:t>
            </a:r>
          </a:p>
          <a:p>
            <a:pPr>
              <a:spcAft>
                <a:spcPts val="700"/>
              </a:spcAft>
              <a:defRPr sz="1200">
                <a:solidFill>
                  <a:srgbClr val="0F172A"/>
                </a:solidFill>
              </a:defRPr>
            </a:pPr>
            <a:r>
              <a:t>Parameter Count: Exactly 335,114 trainable weights &amp; biases</a:t>
            </a:r>
          </a:p>
          <a:p>
            <a:pPr>
              <a:spcAft>
                <a:spcPts val="700"/>
              </a:spcAft>
              <a:defRPr sz="1200">
                <a:solidFill>
                  <a:srgbClr val="0F172A"/>
                </a:solidFill>
              </a:defRPr>
            </a:pPr>
            <a:r>
              <a:t>Hardware Backend: Apple Silicon CPU (Native arm64)</a:t>
            </a:r>
          </a:p>
          <a:p>
            <a:pPr>
              <a:spcAft>
                <a:spcPts val="700"/>
              </a:spcAft>
              <a:defRPr sz="1200">
                <a:solidFill>
                  <a:srgbClr val="0F172A"/>
                </a:solidFill>
              </a:defRPr>
            </a:pPr>
            <a:r>
              <a:t>Compute Benchmark: CPU: 0.785s / 2 eps  vs  MPS: 4.398s / 2 eps (&gt;5.5x faster)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554480"/>
            <a:ext cx="5242255" cy="47548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320040" rIns="320040" bIns="320040"/>
          <a:lstStyle/>
          <a:p>
            <a:pPr algn="ctr"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Experimental Protocol &amp; Sweep Design</a:t>
            </a:r>
          </a:p>
          <a:p>
            <a:pPr>
              <a:spcAft>
                <a:spcPts val="500"/>
              </a:spcAft>
              <a:defRPr sz="1200">
                <a:solidFill>
                  <a:srgbClr val="0F172A"/>
                </a:solidFill>
              </a:defRPr>
            </a:pPr>
            <a:r>
              <a:t>Datasets: MNIST (primary) &amp; Fashion-MNIST (extension)</a:t>
            </a:r>
          </a:p>
          <a:p>
            <a:pPr>
              <a:spcAft>
                <a:spcPts val="500"/>
              </a:spcAft>
              <a:defRPr sz="1200">
                <a:solidFill>
                  <a:srgbClr val="0F172A"/>
                </a:solidFill>
              </a:defRPr>
            </a:pPr>
            <a:r>
              <a:t>Data Splits: 10,000 train / 5,000 val / 10,000 test (Split seed: 2026)</a:t>
            </a:r>
          </a:p>
          <a:p>
            <a:pPr>
              <a:spcAft>
                <a:spcPts val="500"/>
              </a:spcAft>
              <a:defRPr sz="1200">
                <a:solidFill>
                  <a:srgbClr val="0F172A"/>
                </a:solidFill>
              </a:defRPr>
            </a:pPr>
            <a:r>
              <a:t>Drop Rates Evaluated: 8 uniform rates: d in {0.0, 0.1, 0.2, 0.3, 0.4, 0.5, 0.6, 0.7}</a:t>
            </a:r>
          </a:p>
          <a:p>
            <a:pPr>
              <a:spcAft>
                <a:spcPts val="500"/>
              </a:spcAft>
              <a:defRPr sz="1200">
                <a:solidFill>
                  <a:srgbClr val="0F172A"/>
                </a:solidFill>
              </a:defRPr>
            </a:pPr>
            <a:r>
              <a:t>Random Seeds: 3 seeds: 42, 43, 44 (Bitwise-identical initialization per seed)</a:t>
            </a:r>
          </a:p>
          <a:p>
            <a:pPr>
              <a:spcAft>
                <a:spcPts val="500"/>
              </a:spcAft>
              <a:defRPr sz="1200">
                <a:solidFill>
                  <a:srgbClr val="0F172A"/>
                </a:solidFill>
              </a:defRPr>
            </a:pPr>
            <a:r>
              <a:t>Training Horizon: 20 fixed epochs, batch size 128</a:t>
            </a:r>
          </a:p>
          <a:p>
            <a:pPr>
              <a:spcAft>
                <a:spcPts val="500"/>
              </a:spcAft>
              <a:defRPr sz="1200">
                <a:solidFill>
                  <a:srgbClr val="0F172A"/>
                </a:solidFill>
              </a:defRPr>
            </a:pPr>
            <a:r>
              <a:t>Optimizer: Adam (lr = 0.001, beta1=0.9, beta2=0.999, weight decay = 0)</a:t>
            </a:r>
          </a:p>
          <a:p>
            <a:pPr>
              <a:spcAft>
                <a:spcPts val="500"/>
              </a:spcAft>
              <a:defRPr sz="1200">
                <a:solidFill>
                  <a:srgbClr val="0F172A"/>
                </a:solidFill>
              </a:defRPr>
            </a:pPr>
            <a:r>
              <a:t>Model Selection Rule: Lowest mean validation error across seeds at epoch 20</a:t>
            </a:r>
          </a:p>
          <a:p>
            <a:pPr>
              <a:spcAft>
                <a:spcPts val="500"/>
              </a:spcAft>
              <a:defRPr sz="1200">
                <a:solidFill>
                  <a:srgbClr val="0F172A"/>
                </a:solidFill>
              </a:defRPr>
            </a:pPr>
            <a:r>
              <a:t>Evaluation Discipline: Official test set strictly quarantined (descriptive only)</a:t>
            </a:r>
          </a:p>
          <a:p>
            <a:br/>
            <a:pPr>
              <a:defRPr sz="1100" b="1">
                <a:solidFill>
                  <a:srgbClr val="2563EB"/>
                </a:solidFill>
              </a:defRPr>
            </a:pPr>
            <a:r>
              <a:t>[EXPERIMENT VOLUME] 24 runs &amp; 480 epoch rows per dataset (48 runs total)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24CS2032 DEEP LEARNING — PAPER IMPLEMENTATION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MNIST: Dropout Reduced Test Error at Moderate Rates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nist_keep_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5303520" cy="47548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309360" y="1554480"/>
            <a:ext cx="5150815" cy="47548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</a:defRPr>
            </a:pPr>
            <a:r>
              <a:t>Measured Results on MNIST (Fixed Epoch 20)</a:t>
            </a:r>
          </a:p>
          <a:p>
            <a:pPr>
              <a:spcAft>
                <a:spcPts val="100"/>
              </a:spcAft>
              <a:defRPr sz="1200" b="1">
                <a:solidFill>
                  <a:srgbClr val="2563EB"/>
                </a:solidFill>
              </a:defRPr>
            </a:pPr>
            <a:r>
              <a:t>No Dropout Baseline (d = 0.0):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</a:defRPr>
            </a:pPr>
            <a:r>
              <a:t>Train: 0.203 ± 0.200%  |  Val: 4.260 ± 0.533%</a:t>
            </a:r>
            <a:br/>
            <a:r>
              <a:t>Test Error: 4.320 ± 0.295%  |  Gap: 4.117 ± 0.101 pp</a:t>
            </a:r>
          </a:p>
          <a:p>
            <a:pPr>
              <a:spcAft>
                <a:spcPts val="100"/>
              </a:spcAft>
              <a:defRPr sz="1200" b="1">
                <a:solidFill>
                  <a:srgbClr val="2563EB"/>
                </a:solidFill>
              </a:defRPr>
            </a:pPr>
            <a:r>
              <a:t>Validation-Selected (d* = 0.4):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</a:defRPr>
            </a:pPr>
            <a:r>
              <a:t>Train: 0.323 ± 0.047%  |  Val: 3.747 ± 0.130%</a:t>
            </a:r>
            <a:br/>
            <a:r>
              <a:t>Test Error: 3.843 ± 0.282%  (Accuracy: 96.157%)</a:t>
            </a:r>
            <a:br/>
            <a:r>
              <a:t>Generalization Gap: 3.520 ± 0.295 pp</a:t>
            </a:r>
          </a:p>
          <a:p>
            <a:pPr>
              <a:spcAft>
                <a:spcPts val="100"/>
              </a:spcAft>
              <a:defRPr sz="1200" b="1">
                <a:solidFill>
                  <a:srgbClr val="166534"/>
                </a:solidFill>
              </a:defRPr>
            </a:pPr>
            <a:r>
              <a:t>Net Gain over Baseline: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</a:defRPr>
            </a:pPr>
            <a:r>
              <a:t>+0.477 pp lower test error  (11.03% relative reduction)</a:t>
            </a:r>
          </a:p>
          <a:p>
            <a:pPr>
              <a:spcAft>
                <a:spcPts val="100"/>
              </a:spcAft>
              <a:defRPr sz="1200" b="1">
                <a:solidFill>
                  <a:srgbClr val="2563EB"/>
                </a:solidFill>
              </a:defRPr>
            </a:pPr>
            <a:r>
              <a:t>Paper Reference Rate (d = 0.5):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</a:defRPr>
            </a:pPr>
            <a:r>
              <a:t>Test Error: 3.883 ± 0.087%  (Gap: 3.183 pp)</a:t>
            </a:r>
          </a:p>
          <a:p>
            <a:pPr>
              <a:spcAft>
                <a:spcPts val="100"/>
              </a:spcAft>
              <a:defRPr sz="1200" b="1">
                <a:solidFill>
                  <a:srgbClr val="2563EB"/>
                </a:solidFill>
              </a:defRPr>
            </a:pPr>
            <a:r>
              <a:t>Model Selection Nuance: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</a:defRPr>
            </a:pPr>
            <a:r>
              <a:t>Lowest numerical test error occurred at d=0.3 (3.820 ± 0.118%). The observed mean test-error difference between d=0.3 and d=0.4 is only 0.023 percentage points. Test performance was not used for model selection.</a:t>
            </a:r>
          </a:p>
          <a:p>
            <a:pPr>
              <a:spcAft>
                <a:spcPts val="100"/>
              </a:spcAft>
              <a:defRPr sz="1200" b="1">
                <a:solidFill>
                  <a:srgbClr val="2563EB"/>
                </a:solidFill>
              </a:defRPr>
            </a:pPr>
            <a:r>
              <a:t>Negative Finding: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</a:defRPr>
            </a:pPr>
            <a:r>
              <a:t>Higher drop rates degraded performance below baseline: d=0.6 (4.380%) and d=0.7 (5.110%).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24CS2032 DEEP LEARNING — PAPER IMPLEMENTATION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Historical Paper Comparison &amp; Fashion-MNIST Extension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554480"/>
            <a:ext cx="5120640" cy="47548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</a:defRPr>
            </a:pPr>
            <a:r>
              <a:t>Comparison with Srivastava et al. (2014)</a:t>
            </a:r>
          </a:p>
          <a:p>
            <a:pPr>
              <a:spcAft>
                <a:spcPts val="100"/>
              </a:spcAft>
              <a:defRPr sz="1200" b="1">
                <a:solidFill>
                  <a:srgbClr val="2563EB"/>
                </a:solidFill>
              </a:defRPr>
            </a:pPr>
            <a:r>
              <a:t>Paper Table 2 Historical Score: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</a:defRPr>
            </a:pPr>
            <a:r>
              <a:t>Srivastava et al. report ~1.25% test error on MNIST using a 3x1024 ReLU architecture with dropout.</a:t>
            </a:r>
          </a:p>
          <a:p>
            <a:pPr>
              <a:spcAft>
                <a:spcPts val="100"/>
              </a:spcAft>
              <a:defRPr sz="1200" b="1">
                <a:solidFill>
                  <a:srgbClr val="2563EB"/>
                </a:solidFill>
              </a:defRPr>
            </a:pPr>
            <a:r>
              <a:t>Our Measured Selected Score: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</a:defRPr>
            </a:pPr>
            <a:r>
              <a:t>3.843 ± 0.282% test error (d = 0.4, 3x256 MLP).</a:t>
            </a:r>
          </a:p>
          <a:p>
            <a:pPr>
              <a:spcAft>
                <a:spcPts val="100"/>
              </a:spcAft>
              <a:defRPr sz="1200" b="1">
                <a:solidFill>
                  <a:srgbClr val="991B1B"/>
                </a:solidFill>
              </a:defRPr>
            </a:pPr>
            <a:r>
              <a:t>NOT Directly Comparable: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</a:defRPr>
            </a:pPr>
            <a:r>
              <a:t>Our experiment is not an apples-to-apples comparison:</a:t>
            </a:r>
            <a:br/>
            <a:r>
              <a:t>• Architecture: 256 units vs. 1,024-8,192 units</a:t>
            </a:r>
            <a:br/>
            <a:r>
              <a:t>• Training set: 10,000 subset vs. full 60,000</a:t>
            </a:r>
            <a:br/>
            <a:r>
              <a:t>• Budget: 20 epochs vs. hundreds of epochs</a:t>
            </a:r>
            <a:br/>
            <a:r>
              <a:t>• Optimizer: Adam vs. SGD with momentum. Max-norm variants are separate paper configurations.</a:t>
            </a:r>
          </a:p>
          <a:p>
            <a:pPr>
              <a:spcAft>
                <a:spcPts val="100"/>
              </a:spcAft>
              <a:defRPr sz="1200" b="1">
                <a:solidFill>
                  <a:srgbClr val="2563EB"/>
                </a:solidFill>
              </a:defRPr>
            </a:pPr>
            <a:r>
              <a:t>Qualitative Trend: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</a:defRPr>
            </a:pPr>
            <a:r>
              <a:t>Our reduced-scale rate sweep shows a qualitatively similar non-monotonic trend: moderate dropout performs better than very high dropout under this fixed training budget.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554480"/>
            <a:ext cx="5242255" cy="47548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</a:defRPr>
            </a:pPr>
            <a:r>
              <a:t>Fashion-MNIST Extension (Same Protocol)</a:t>
            </a:r>
          </a:p>
          <a:p>
            <a:pPr>
              <a:spcAft>
                <a:spcPts val="100"/>
              </a:spcAft>
              <a:defRPr sz="1200" b="1">
                <a:solidFill>
                  <a:srgbClr val="2563EB"/>
                </a:solidFill>
              </a:defRPr>
            </a:pPr>
            <a:r>
              <a:t>No Dropout Baseline (d = 0.0):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</a:defRPr>
            </a:pPr>
            <a:r>
              <a:t>Train: 7.130 ± 0.177%  |  Val: 13.127 ± 0.247%</a:t>
            </a:r>
            <a:br/>
            <a:r>
              <a:t>Test Error: 14.663 ± 0.175%  |  Gap: 7.533 pp</a:t>
            </a:r>
          </a:p>
          <a:p>
            <a:pPr>
              <a:spcAft>
                <a:spcPts val="100"/>
              </a:spcAft>
              <a:defRPr sz="1200" b="1">
                <a:solidFill>
                  <a:srgbClr val="166534"/>
                </a:solidFill>
              </a:defRPr>
            </a:pPr>
            <a:r>
              <a:t>Validation-Selected (d* = 0.2):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</a:defRPr>
            </a:pPr>
            <a:r>
              <a:t>Train: 8.583 ± 0.414%  |  Val: 13.087 ± 0.408%</a:t>
            </a:r>
            <a:br/>
            <a:r>
              <a:t>Test Error: 14.347 ± 0.253%  (Accuracy: 85.653%)</a:t>
            </a:r>
            <a:br/>
            <a:r>
              <a:t>Net Improvement: +0.317 pp (2.16% relative)</a:t>
            </a:r>
          </a:p>
          <a:p>
            <a:pPr>
              <a:spcAft>
                <a:spcPts val="100"/>
              </a:spcAft>
              <a:defRPr sz="1200" b="1">
                <a:solidFill>
                  <a:srgbClr val="991B1B"/>
                </a:solidFill>
              </a:defRPr>
            </a:pPr>
            <a:r>
              <a:t>Critical Negative Finding: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</a:defRPr>
            </a:pPr>
            <a:r>
              <a:t>Canonical d = 0.5 underperformed baseline:</a:t>
            </a:r>
            <a:br/>
            <a:r>
              <a:t>Test error rose to 15.133 ± 0.325% (+0.47 pp worse than baseline). At d = 0.7, error spiked to 17.453%.</a:t>
            </a:r>
          </a:p>
          <a:p>
            <a:pPr>
              <a:spcAft>
                <a:spcPts val="100"/>
              </a:spcAft>
              <a:defRPr sz="1200" b="1">
                <a:solidFill>
                  <a:srgbClr val="2563EB"/>
                </a:solidFill>
              </a:defRPr>
            </a:pPr>
            <a:r>
              <a:t>Key Scientific Insight: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</a:defRPr>
            </a:pPr>
            <a:r>
              <a:t>Under the fixed 20-epoch budget, higher dropout rates produced higher train and test error on Fashion-MNIST, consistent with stronger underfitting.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24CS2032 DEEP LEARNING — PAPER IMPLEMENTATION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Failure Case Inspection and Methodological Limitations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6858000" cy="493776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554480"/>
            <a:ext cx="65836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MNIST Failure Inspection (Selected d = 0.4):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The inspected examples include: True 2 → Pred 3 (conf 0.52)   |   True 9 → Pred 8 (conf 0.91)</a:t>
            </a:r>
          </a:p>
        </p:txBody>
      </p:sp>
      <p:pic>
        <p:nvPicPr>
          <p:cNvPr id="7" name="Picture 6" descr="mnist_failure_cases.png"/>
          <p:cNvPicPr>
            <a:picLocks noChangeAspect="1"/>
          </p:cNvPicPr>
          <p:nvPr/>
        </p:nvPicPr>
        <p:blipFill>
          <a:blip r:embed="rId2"/>
          <a:srcRect t="4861" b="63889"/>
          <a:stretch>
            <a:fillRect/>
          </a:stretch>
        </p:blipFill>
        <p:spPr>
          <a:xfrm>
            <a:off x="868680" y="2103120"/>
            <a:ext cx="6583680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68680" y="3611880"/>
            <a:ext cx="65836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Fashion-MNIST Failure Inspection (Selected d = 0.2):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The inspected examples include: Coat → Pullover (conf 0.71)   |   Ankle boot → Sneaker (conf 0.99)</a:t>
            </a:r>
          </a:p>
        </p:txBody>
      </p:sp>
      <p:pic>
        <p:nvPicPr>
          <p:cNvPr id="9" name="Picture 8" descr="fashion_failure_cases.png"/>
          <p:cNvPicPr>
            <a:picLocks noChangeAspect="1"/>
          </p:cNvPicPr>
          <p:nvPr/>
        </p:nvPicPr>
        <p:blipFill>
          <a:blip r:embed="rId3"/>
          <a:srcRect t="4861" b="63889"/>
          <a:stretch>
            <a:fillRect/>
          </a:stretch>
        </p:blipFill>
        <p:spPr>
          <a:xfrm>
            <a:off x="868680" y="4160520"/>
            <a:ext cx="6583680" cy="1371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8680" y="5669280"/>
            <a:ext cx="65836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i="1">
                <a:solidFill>
                  <a:srgbClr val="475569"/>
                </a:solidFill>
              </a:defRPr>
            </a:pPr>
            <a:r>
              <a:t>Note: Inspected examples display stroke and silhouette resemblances; they do not establish category-wide concentration or individual failure causes.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0" y="1463040"/>
            <a:ext cx="3687775" cy="493776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Methodological Constraints &amp; Scope</a:t>
            </a:r>
          </a:p>
          <a:p>
            <a:pPr>
              <a:spcAft>
                <a:spcPts val="100"/>
              </a:spcAft>
              <a:defRPr sz="1100" b="1">
                <a:solidFill>
                  <a:srgbClr val="2563EB"/>
                </a:solidFill>
              </a:defRPr>
            </a:pPr>
            <a:r>
              <a:t>• 3 random seeds only:</a:t>
            </a:r>
          </a:p>
          <a:p>
            <a:pPr>
              <a:spcAft>
                <a:spcPts val="500"/>
              </a:spcAft>
              <a:defRPr sz="1000">
                <a:solidFill>
                  <a:srgbClr val="0F172A"/>
                </a:solidFill>
              </a:defRPr>
            </a:pPr>
            <a:r>
              <a:t>N=3 reflects empirical sample variance but lacks statistical power for formal hypothesis testing.</a:t>
            </a:r>
          </a:p>
          <a:p>
            <a:pPr>
              <a:spcAft>
                <a:spcPts val="100"/>
              </a:spcAft>
              <a:defRPr sz="1100" b="1">
                <a:solidFill>
                  <a:srgbClr val="2563EB"/>
                </a:solidFill>
              </a:defRPr>
            </a:pPr>
            <a:r>
              <a:t>• 10k training subset:</a:t>
            </a:r>
          </a:p>
          <a:p>
            <a:pPr>
              <a:spcAft>
                <a:spcPts val="500"/>
              </a:spcAft>
              <a:defRPr sz="1000">
                <a:solidFill>
                  <a:srgbClr val="0F172A"/>
                </a:solidFill>
              </a:defRPr>
            </a:pPr>
            <a:r>
              <a:t>Subsampled training split magnifies regularizer sensitivity relative to the full 60,000 dataset.</a:t>
            </a:r>
          </a:p>
          <a:p>
            <a:pPr>
              <a:spcAft>
                <a:spcPts val="100"/>
              </a:spcAft>
              <a:defRPr sz="1100" b="1">
                <a:solidFill>
                  <a:srgbClr val="2563EB"/>
                </a:solidFill>
              </a:defRPr>
            </a:pPr>
            <a:r>
              <a:t>• Fixed 20-epoch budget:</a:t>
            </a:r>
          </a:p>
          <a:p>
            <a:pPr>
              <a:spcAft>
                <a:spcPts val="500"/>
              </a:spcAft>
              <a:defRPr sz="1000">
                <a:solidFill>
                  <a:srgbClr val="0F172A"/>
                </a:solidFill>
              </a:defRPr>
            </a:pPr>
            <a:r>
              <a:t>Higher dropout may require more optimization; this experiment intentionally keeps the same 20-epoch budget for every rate.</a:t>
            </a:r>
          </a:p>
          <a:p>
            <a:pPr>
              <a:spcAft>
                <a:spcPts val="100"/>
              </a:spcAft>
              <a:defRPr sz="1100" b="1">
                <a:solidFill>
                  <a:srgbClr val="2563EB"/>
                </a:solidFill>
              </a:defRPr>
            </a:pPr>
            <a:r>
              <a:t>• Fully connected MLP:</a:t>
            </a:r>
          </a:p>
          <a:p>
            <a:pPr>
              <a:spcAft>
                <a:spcPts val="500"/>
              </a:spcAft>
              <a:defRPr sz="1000">
                <a:solidFill>
                  <a:srgbClr val="0F172A"/>
                </a:solidFill>
              </a:defRPr>
            </a:pPr>
            <a:r>
              <a:t>Lacks the translational invariance of convolutional networks.</a:t>
            </a:r>
          </a:p>
          <a:p>
            <a:pPr>
              <a:spcAft>
                <a:spcPts val="100"/>
              </a:spcAft>
              <a:defRPr sz="1100" b="1">
                <a:solidFill>
                  <a:srgbClr val="2563EB"/>
                </a:solidFill>
              </a:defRPr>
            </a:pPr>
            <a:r>
              <a:t>• No significance test:</a:t>
            </a:r>
          </a:p>
          <a:p>
            <a:pPr>
              <a:spcAft>
                <a:spcPts val="500"/>
              </a:spcAft>
              <a:defRPr sz="1000">
                <a:solidFill>
                  <a:srgbClr val="0F172A"/>
                </a:solidFill>
              </a:defRPr>
            </a:pPr>
            <a:r>
              <a:t>Sample SD (ddof=1) reported; descriptive comparisons only without p-values.</a:t>
            </a:r>
          </a:p>
          <a:p>
            <a:pPr>
              <a:spcAft>
                <a:spcPts val="100"/>
              </a:spcAft>
              <a:defRPr sz="1100" b="1">
                <a:solidFill>
                  <a:srgbClr val="2563EB"/>
                </a:solidFill>
              </a:defRPr>
            </a:pPr>
            <a:r>
              <a:t>• Fashion-MNIST is an extension:</a:t>
            </a:r>
          </a:p>
          <a:p>
            <a:pPr>
              <a:spcAft>
                <a:spcPts val="500"/>
              </a:spcAft>
              <a:defRPr sz="1000">
                <a:solidFill>
                  <a:srgbClr val="0F172A"/>
                </a:solidFill>
              </a:defRPr>
            </a:pPr>
            <a:r>
              <a:t>Exploratory benchmark under the identical protocol (not present in 2014 paper).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24CS2032 DEEP LEARNING — PAPER IMPLEMENTATION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Conclusion, Live Model Demo &amp; Resources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554480"/>
            <a:ext cx="5120640" cy="47548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spcAft>
                <a:spcPts val="1000"/>
              </a:spcAft>
              <a:defRPr sz="1500" b="1">
                <a:solidFill>
                  <a:srgbClr val="1E3A8A"/>
                </a:solidFill>
              </a:defRPr>
            </a:pPr>
            <a:r>
              <a:t>Key Research Conclusions</a:t>
            </a:r>
          </a:p>
          <a:p>
            <a:pPr>
              <a:spcAft>
                <a:spcPts val="800"/>
              </a:spcAft>
              <a:defRPr sz="1100">
                <a:solidFill>
                  <a:srgbClr val="0F172A"/>
                </a:solidFill>
              </a:defRPr>
            </a:pPr>
            <a:r>
              <a:t>1. Mathematical Implementation: Manual inverted dropout implemented without built-in dropout primitives; standard PyTorch layers and optimizers were used.</a:t>
            </a:r>
          </a:p>
          <a:p>
            <a:pPr>
              <a:spcAft>
                <a:spcPts val="800"/>
              </a:spcAft>
              <a:defRPr sz="1100">
                <a:solidFill>
                  <a:srgbClr val="0F172A"/>
                </a:solidFill>
              </a:defRPr>
            </a:pPr>
            <a:r>
              <a:t>2. Regularization Efficacy: Moderate validation-selected dropout lowered mean test error relative to the no-dropout baseline in our fixed protocol:</a:t>
            </a:r>
            <a:br/>
            <a:r>
              <a:t>   • MNIST: 4.320% -&gt; 3.843% test error (11.03% relative reduction)</a:t>
            </a:r>
            <a:br/>
            <a:r>
              <a:t>   • Fashion-MNIST: 14.663% -&gt; 14.347% test error (2.16% relative reduction)</a:t>
            </a:r>
          </a:p>
          <a:p>
            <a:pPr>
              <a:spcAft>
                <a:spcPts val="800"/>
              </a:spcAft>
              <a:defRPr sz="1100">
                <a:solidFill>
                  <a:srgbClr val="0F172A"/>
                </a:solidFill>
              </a:defRPr>
            </a:pPr>
            <a:r>
              <a:t>3. Critical Negative Finding: Canonical d = 0.5 underperformed the no-dropout baseline on Fashion-MNIST, and high rates d &gt;= 0.6 produced higher error consistent with stronger underfitting under the fixed training budget.</a:t>
            </a:r>
          </a:p>
          <a:p>
            <a:pPr>
              <a:spcAft>
                <a:spcPts val="800"/>
              </a:spcAft>
              <a:defRPr sz="1100">
                <a:solidFill>
                  <a:srgbClr val="0F172A"/>
                </a:solidFill>
              </a:defRPr>
            </a:pPr>
            <a:r>
              <a:t>4. Methodological Lesson: Dropout strength cannot be assumed universally; it must be calibrated systematically against validation data.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554480"/>
            <a:ext cx="5242255" cy="47548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spcAft>
                <a:spcPts val="1000"/>
              </a:spcAft>
              <a:defRPr sz="1500" b="1">
                <a:solidFill>
                  <a:srgbClr val="1E3A8A"/>
                </a:solidFill>
              </a:defRPr>
            </a:pPr>
            <a:r>
              <a:t>Saved-Model Demonstration &amp; Project Assets</a:t>
            </a:r>
          </a:p>
          <a:p>
            <a:pPr>
              <a:spcAft>
                <a:spcPts val="100"/>
              </a:spcAft>
              <a:defRPr sz="1200" b="1">
                <a:solidFill>
                  <a:srgbClr val="2563EB"/>
                </a:solidFill>
              </a:defRPr>
            </a:pPr>
            <a:r>
              <a:t>Interactive Demo (presentation/demo.py):</a:t>
            </a:r>
          </a:p>
          <a:p>
            <a:pPr>
              <a:spcAft>
                <a:spcPts val="700"/>
              </a:spcAft>
              <a:defRPr sz="1050">
                <a:solidFill>
                  <a:srgbClr val="0F172A"/>
                </a:solidFill>
              </a:defRPr>
            </a:pPr>
            <a:r>
              <a:t>• Loads saved checkpoint: mnist_d0.4_s42.pt on CPU</a:t>
            </a:r>
            <a:br/>
            <a:r>
              <a:t>• First 10 MNIST test samples: 10/10 correct in the demo.</a:t>
            </a:r>
            <a:br/>
            <a:r>
              <a:t>  (Demo sample only — not the reported full-test accuracy.)</a:t>
            </a:r>
            <a:br/>
            <a:r>
              <a:t>• Formal selected mean test accuracy remains 96.157%.</a:t>
            </a:r>
          </a:p>
          <a:p>
            <a:pPr>
              <a:spcAft>
                <a:spcPts val="100"/>
              </a:spcAft>
              <a:defRPr sz="1200" b="1">
                <a:solidFill>
                  <a:srgbClr val="2563EB"/>
                </a:solidFill>
              </a:defRPr>
            </a:pPr>
            <a:r>
              <a:t>Private Project Repository:</a:t>
            </a:r>
          </a:p>
          <a:p>
            <a:pPr>
              <a:spcAft>
                <a:spcPts val="700"/>
              </a:spcAft>
              <a:defRPr sz="1050">
                <a:solidFill>
                  <a:srgbClr val="0F172A"/>
                </a:solidFill>
              </a:defRPr>
            </a:pPr>
            <a:r>
              <a:t>https://github.com/sg721642/24cs2032-dropout-paper-implementation</a:t>
            </a:r>
            <a:br/>
            <a:r>
              <a:t>(Contains complete source, reproducible notebook, and audited CSV data)</a:t>
            </a:r>
          </a:p>
          <a:p>
            <a:pPr>
              <a:spcAft>
                <a:spcPts val="100"/>
              </a:spcAft>
              <a:defRPr sz="1200" b="1">
                <a:solidFill>
                  <a:srgbClr val="2563EB"/>
                </a:solidFill>
              </a:defRPr>
            </a:pPr>
            <a:r>
              <a:t>Verified Academic Report:</a:t>
            </a:r>
          </a:p>
          <a:p>
            <a:pPr>
              <a:spcAft>
                <a:spcPts val="700"/>
              </a:spcAft>
              <a:defRPr sz="1050">
                <a:solidFill>
                  <a:srgbClr val="0F172A"/>
                </a:solidFill>
              </a:defRPr>
            </a:pPr>
            <a:r>
              <a:t>report/24CS2032_Dropout_Report.pdf (IEEE two-column format)</a:t>
            </a:r>
          </a:p>
          <a:p>
            <a:pPr>
              <a:spcAft>
                <a:spcPts val="100"/>
              </a:spcAft>
              <a:defRPr sz="1200" b="1">
                <a:solidFill>
                  <a:srgbClr val="2563EB"/>
                </a:solidFill>
              </a:defRPr>
            </a:pPr>
            <a:r>
              <a:t>Primary Citation:</a:t>
            </a:r>
          </a:p>
          <a:p>
            <a:pPr>
              <a:spcAft>
                <a:spcPts val="700"/>
              </a:spcAft>
              <a:defRPr sz="1050">
                <a:solidFill>
                  <a:srgbClr val="0F172A"/>
                </a:solidFill>
              </a:defRPr>
            </a:pPr>
            <a:r>
              <a:t>Srivastava, N., Hinton, G., Krizhevsky, A., Sutskever, I., &amp; Salakhutdinov, R. 'Dropout: A Simple Way to Prevent Neural Networks from Overfitting.' JMLR 15.56 (2014): 1929-1958.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